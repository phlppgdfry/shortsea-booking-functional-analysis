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68b36050b24172" /><Relationship Type="http://schemas.openxmlformats.org/officeDocument/2006/relationships/extended-properties" Target="/docProps/app.xml" Id="Ra09c3a5dbbd14d1c" /><Relationship Type="http://schemas.openxmlformats.org/officeDocument/2006/relationships/officeDocument" Target="/ppt/presentation.xml" Id="Re0ad7316585542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e9e4f1c87e4682"/>
  </p:sldMasterIdLst>
  <p:notesMasterIdLst>
    <p:notesMasterId xmlns:r="http://schemas.openxmlformats.org/officeDocument/2006/relationships" r:id="R6b9007f5b4594db1"/>
  </p:notesMasterIdLst>
  <p:sldIdLst>
    <p:sldId xmlns:r="http://schemas.openxmlformats.org/officeDocument/2006/relationships" id="256" r:id="R0c09736eb4e44ee6"/>
    <p:sldId xmlns:r="http://schemas.openxmlformats.org/officeDocument/2006/relationships" id="257" r:id="R844308365cc64946"/>
    <p:sldId xmlns:r="http://schemas.openxmlformats.org/officeDocument/2006/relationships" id="258" r:id="R77ea54890f9e4755"/>
    <p:sldId xmlns:r="http://schemas.openxmlformats.org/officeDocument/2006/relationships" id="259" r:id="R7b45dc263b574467"/>
    <p:sldId xmlns:r="http://schemas.openxmlformats.org/officeDocument/2006/relationships" id="260" r:id="R01515d278a9b463e"/>
    <p:sldId xmlns:r="http://schemas.openxmlformats.org/officeDocument/2006/relationships" id="261" r:id="Re666fe25aaf54939"/>
    <p:sldId xmlns:r="http://schemas.openxmlformats.org/officeDocument/2006/relationships" id="262" r:id="R5d420a113bfa4d1c"/>
    <p:sldId xmlns:r="http://schemas.openxmlformats.org/officeDocument/2006/relationships" id="263" r:id="Rd6ae66afe29a4f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3ad1f2ff804713" /><Relationship Type="http://schemas.openxmlformats.org/officeDocument/2006/relationships/slideMaster" Target="/ppt/slideMasters/slideMaster1.xml" Id="R30e9e4f1c87e4682" /><Relationship Type="http://schemas.openxmlformats.org/officeDocument/2006/relationships/notesMaster" Target="/ppt/notesMasters/notesMaster1.xml" Id="R6b9007f5b4594db1" /><Relationship Type="http://schemas.openxmlformats.org/officeDocument/2006/relationships/presProps" Target="/ppt/presProps.xml" Id="Re075a46cb457435e" /><Relationship Type="http://schemas.openxmlformats.org/officeDocument/2006/relationships/tableStyles" Target="/ppt/tableStyles.xml" Id="Rfd0748da09ee42cd" /><Relationship Type="http://schemas.openxmlformats.org/officeDocument/2006/relationships/slide" Target="/ppt/slides/slide1.xml" Id="R0c09736eb4e44ee6" /><Relationship Type="http://schemas.openxmlformats.org/officeDocument/2006/relationships/slide" Target="/ppt/slides/slide2.xml" Id="R844308365cc64946" /><Relationship Type="http://schemas.openxmlformats.org/officeDocument/2006/relationships/slide" Target="/ppt/slides/slide3.xml" Id="R77ea54890f9e4755" /><Relationship Type="http://schemas.openxmlformats.org/officeDocument/2006/relationships/slide" Target="/ppt/slides/slide4.xml" Id="R7b45dc263b574467" /><Relationship Type="http://schemas.openxmlformats.org/officeDocument/2006/relationships/slide" Target="/ppt/slides/slide5.xml" Id="R01515d278a9b463e" /><Relationship Type="http://schemas.openxmlformats.org/officeDocument/2006/relationships/slide" Target="/ppt/slides/slide6.xml" Id="Re666fe25aaf54939" /><Relationship Type="http://schemas.openxmlformats.org/officeDocument/2006/relationships/slide" Target="/ppt/slides/slide7.xml" Id="R5d420a113bfa4d1c" /><Relationship Type="http://schemas.openxmlformats.org/officeDocument/2006/relationships/slide" Target="/ppt/slides/slide8.xml" Id="Rd6ae66afe29a4f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78a573dc3943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24aa11d416408b" /><Relationship Type="http://schemas.openxmlformats.org/officeDocument/2006/relationships/notesMaster" Target="/ppt/notesMasters/notesMaster1.xml" Id="R94f4788a8f5f40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08ead632524359" /><Relationship Type="http://schemas.openxmlformats.org/officeDocument/2006/relationships/notesMaster" Target="/ppt/notesMasters/notesMaster1.xml" Id="R83e0db4ac7204c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55d92cfdcb4419" /><Relationship Type="http://schemas.openxmlformats.org/officeDocument/2006/relationships/notesMaster" Target="/ppt/notesMasters/notesMaster1.xml" Id="Rd5e5f0d59cdc46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cedcb8c978494d" /><Relationship Type="http://schemas.openxmlformats.org/officeDocument/2006/relationships/notesMaster" Target="/ppt/notesMasters/notesMaster1.xml" Id="Rd810ec8e9a9f42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a4a451350c405a" /><Relationship Type="http://schemas.openxmlformats.org/officeDocument/2006/relationships/notesMaster" Target="/ppt/notesMasters/notesMaster1.xml" Id="R019a0698417446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13f50ecc7647bf" /><Relationship Type="http://schemas.openxmlformats.org/officeDocument/2006/relationships/notesMaster" Target="/ppt/notesMasters/notesMaster1.xml" Id="Rad83ad40b0c943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4b418650424ba0" /><Relationship Type="http://schemas.openxmlformats.org/officeDocument/2006/relationships/notesMaster" Target="/ppt/notesMasters/notesMaster1.xml" Id="Rf5ee2eea61cd4a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aeb222823740d1" /><Relationship Type="http://schemas.openxmlformats.org/officeDocument/2006/relationships/notesMaster" Target="/ppt/notesMasters/notesMaster1.xml" Id="R1d57dfaa7be344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0:00–0:30. Say this is an independent case, with simulated discovery and illustrative data. No production implementation or actual workshop is claimed.</a:t>
            </a:r>
          </a:p>
          <a:p xmlns:a="http://schemas.openxmlformats.org/drawingml/2006/main">
            <a:r>
              <a:t>Source: https://github.com/phlppgdfry/shortsea-booking-functional-analysis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0:30–1:15. Explain operational risk and competing commercial/operations needs. All described behaviour is fictional. Source: docs/01-discovery/context.md.</a:t>
            </a:r>
          </a:p>
          <a:p xmlns:a="http://schemas.openxmlformats.org/drawingml/2006/main">
            <a:r>
              <a:t>Source: https://github.com/phlppgdfry/shortsea-booking-functional-analysis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1:15–2:00. Use H2: key accounts get queue priority, no automatic override. Explain that a simulated board is not stakeholder experience. Source: docs/02-event-storming/outcomes.md.</a:t>
            </a:r>
          </a:p>
          <a:p xmlns:a="http://schemas.openxmlformats.org/drawingml/2006/main">
            <a:r>
              <a:t>Source: https://github.com/phlppgdfry/shortsea-booking-functional-analysis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2:00–3:00. Sailing 22:00, received 20:20, processed 21:30. On time at receipt but closed at execution. D-06/D-07 need operations validation. Source: docs/03-analysis/review-decisions.md.</a:t>
            </a:r>
          </a:p>
          <a:p xmlns:a="http://schemas.openxmlformats.org/drawingml/2006/main">
            <a:r>
              <a:t>Source: https://github.com/phlppgdfry/shortsea-booking-functional-analysis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3:00–4:00. Failed delivery does not undo an applied booking. Implementation needs transactional enqueue and replay by amendment ID. Source: docs/05-models/state-machine.md and docs/06-interfaces/portal-and-terminal.md.</a:t>
            </a:r>
          </a:p>
          <a:p xmlns:a="http://schemas.openxmlformats.org/drawingml/2006/main">
            <a:r>
              <a:t>Source: https://github.com/phlppgdfry/shortsea-booking-functional-analysis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4:00–5:00. Demonstrate exactly T-30 and delayed EDI in checker. Tests are not proof of domain assumptions, real capacity concurrency or executed UAT. Source: tests/ and docs/07-delivery/test-scenarios.md.</a:t>
            </a:r>
          </a:p>
          <a:p xmlns:a="http://schemas.openxmlformats.org/drawingml/2006/main">
            <a:r>
              <a:t>Source: https://github.com/phlppgdfry/shortsea-booking-functional-analysis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5:00–6:00. Proposed feature flag, no-go safety criteria, preserve committed amendments on rollback. Baselines and targets are illustrative, no results achieved. Source: docs/07-delivery/release-plan.md.</a:t>
            </a:r>
          </a:p>
          <a:p xmlns:a="http://schemas.openxmlformats.org/drawingml/2006/main">
            <a:r>
              <a:t>Source: https://github.com/phlppgdfry/shortsea-booking-functional-analysis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6:00–7:00. Explain personal contribution honestly, including AI assistance if asked. Do not equate artefact completion with your own mastery. Source: EVIDENCE.md.</a:t>
            </a:r>
          </a:p>
          <a:p xmlns:a="http://schemas.openxmlformats.org/drawingml/2006/main">
            <a:r>
              <a:t>Source: https://github.com/phlppgdfry/shortsea-booking-functional-analysis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f9908a1c8f4c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84815bd4124927" /><Relationship Type="http://schemas.openxmlformats.org/officeDocument/2006/relationships/slideLayout" Target="/ppt/slideLayouts/slideLayout1.xml" Id="R8b3c1bf5234447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3c1bf5234447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a704a26b3432e" /><Relationship Type="http://schemas.openxmlformats.org/officeDocument/2006/relationships/notesSlide" Target="/ppt/notesSlides/notesSlide1.xml" Id="Rfb8979a7745345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4a7306df3427c" /><Relationship Type="http://schemas.openxmlformats.org/officeDocument/2006/relationships/notesSlide" Target="/ppt/notesSlides/notesSlide2.xml" Id="Re1bc61378f864b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be7b45f9a4918" /><Relationship Type="http://schemas.openxmlformats.org/officeDocument/2006/relationships/notesSlide" Target="/ppt/notesSlides/notesSlide3.xml" Id="Rebee519616054a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f8356f4f740dc" /><Relationship Type="http://schemas.openxmlformats.org/officeDocument/2006/relationships/notesSlide" Target="/ppt/notesSlides/notesSlide4.xml" Id="R634bed35d35d4e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f65dfb1ca4817" /><Relationship Type="http://schemas.openxmlformats.org/officeDocument/2006/relationships/notesSlide" Target="/ppt/notesSlides/notesSlide5.xml" Id="R95bebc268f5745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0d042123241f8" /><Relationship Type="http://schemas.openxmlformats.org/officeDocument/2006/relationships/notesSlide" Target="/ppt/notesSlides/notesSlide6.xml" Id="Rcdd030fddea447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4317aa81e4389" /><Relationship Type="http://schemas.openxmlformats.org/officeDocument/2006/relationships/notesSlide" Target="/ppt/notesSlides/notesSlide7.xml" Id="Rdd89f9c688fb4a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195fda1ab4ae5" /><Relationship Type="http://schemas.openxmlformats.org/officeDocument/2006/relationships/notesSlide" Target="/ppt/notesSlides/notesSlide8.xml" Id="R15e097814bdd4e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81338-60E2-4E21-9E18-0074B49C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62C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62C3B"/>
                </a:solidFill>
                <a:latin typeface="Helvetica Neue"/>
                <a:ea typeface="Helvetica Neue"/>
                <a:cs typeface="Helvetica Neue"/>
              </a:rPr>
              <a:t>Late booking amendments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291F6-DF2B-49BD-B1F4-BE9712C8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 functional analysis for a fictional short-sea operator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Philippe Godfroy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Booking changes across portal, EDI and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BDDDE-12F6-4733-9299-B8B0D427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Independent fictional portfolio case. Illustrative assumptions.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EEFDF-428E-4388-8014-FE39CF76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00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830468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60D52-1642-4BBC-B284-4805640E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62C3B"/>
                </a:solidFill>
                <a:latin typeface="Helvetica Neue"/>
                <a:ea typeface="Helvetica Neue"/>
                <a:cs typeface="Helvetica Neue"/>
              </a:rPr>
              <a:t>The booking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01899-9917-44B3-A778-4BC92671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The portal stops changes 24 hours early.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EDI overwrites bookings without shared checks.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Agents use remembered rules and spreadsheets.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The terminal may still show the old sailing.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41219-30F4-4906-9CEE-C4498841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Independent fictional portfolio case. Illustrative assumptions.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C0E06-51BB-4121-A337-7B74A27B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00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230990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13AB8-3607-4030-ADFA-3402C2CE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62C3B"/>
                </a:solidFill>
                <a:latin typeface="Helvetica Neue"/>
                <a:ea typeface="Helvetica Neue"/>
                <a:cs typeface="Helvetica Neue"/>
              </a:rPr>
              <a:t>Discovery and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7D00C-1070-47E5-8E82-1F55100B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Simulated interviews expose contradictory cut-offs.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An event timeline makes disagreement visible.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The analyst prepares options and consequences.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Decision owners validate the business policy.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3999F-6989-4EA2-A224-E754A907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Independent fictional portfolio case. Illustrative assumptions.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34E79-9963-4CE6-9040-A2A7A76D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00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86608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C302B-0504-4EE2-A809-555AEC83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62C3B"/>
                </a:solidFill>
                <a:latin typeface="Helvetica Neue"/>
                <a:ea typeface="Helvetica Neue"/>
                <a:cs typeface="Helvetica Neue"/>
              </a:rPr>
              <a:t>Deadline and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33FEC-6A01-4F2D-9A84-BCD963A7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At exactly T-30, changes and approvals close.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Receipt time determines cut-off eligibility.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Current status, capacity and time control execution.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 timely request can arrive too late to execute.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7BA5F-FA39-4040-AF41-C731A2C0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Independent fictional portfolio case. Illustrative assumptions.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8462F-F7B2-4BE6-BB50-E63EA6C2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00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86066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2C368-01B3-49CF-B4EB-3761BB6D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62C3B"/>
                </a:solidFill>
                <a:latin typeface="Helvetica Neue"/>
                <a:ea typeface="Helvetica Neue"/>
                <a:cs typeface="Helvetica Neue"/>
              </a:rPr>
              <a:t>Booking and delivery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11251-7E52-42A0-B94A-562022FF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Applied means the booking commit succeeded.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The commit durably queues notifications.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Delivery can remain queued, retrying or failed.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Support replays and reconciles the notification.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9B143-6547-44A1-BDF7-AE8B569C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Independent fictional portfolio case. Illustrative assumptions.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30B2C-CE6A-40BF-B26F-77D993DF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00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456075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F1E48-8168-4816-8ECE-3514560C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62C3B"/>
                </a:solidFill>
                <a:latin typeface="Helvetica Neue"/>
                <a:ea typeface="Helvetica Neue"/>
                <a:cs typeface="Helvetica Neue"/>
              </a:rPr>
              <a:t>Validation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00729-9E3F-445A-A27C-9EADB769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27 executable decision examples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43 automated checks in total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Approval guards and delivery-state separation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Planned integration tests and user acceptance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41879-6BA0-44E0-A247-6B77CAE7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Independent fictional portfolio case. Illustrative assumptions.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D4361-22CC-4878-BAFF-9179FDD9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00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384585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F97D7-0D82-4213-A3B0-85DB1786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62C3B"/>
                </a:solidFill>
                <a:latin typeface="Helvetica Neue"/>
                <a:ea typeface="Helvetica Neue"/>
                <a:cs typeface="Helvetica Neue"/>
              </a:rPr>
              <a:t>Pilot and 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1985B-7B88-44C8-B439-5B39C461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Validate policies with operations and finance.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Pilot one route and selected EDI partners.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Train users and rehearse support recovery.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Measure incidents, channel mix and delivery failures.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D1448-3A55-4020-ABED-CE9DCD9D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Independent fictional portfolio case. Illustrative assumptions.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A035B-C0A6-445F-AC45-B9440388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00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551812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6F6BC-2431-49B1-A503-33534492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62C3B"/>
                </a:solidFill>
                <a:latin typeface="Helvetica Neue"/>
                <a:ea typeface="Helvetica Neue"/>
                <a:cs typeface="Helvetica Neue"/>
              </a:rPr>
              <a:t>What the case demonstrates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D9018-FA2E-4A95-8F6E-8E274DB9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Traceable specifications and design trade-offs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Consistent rules across documents and examples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An explicit boundary between proposals and proof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746"/>
                </a:solidFill>
                <a:latin typeface="Helvetica Neue"/>
                <a:ea typeface="Helvetica Neue"/>
                <a:cs typeface="Helvetica Neue"/>
              </a:rPr>
              <a:t>Real stakeholder facilitation remains unproven.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BAD18-AE2D-4844-9ECC-18E8EB88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Independent fictional portfolio case. Illustrative assumptions.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F2F41-1C91-44A0-8D1A-369A745C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00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54443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2026-10-10T03:10:34.1180000Z</dcterms:created>
  <dcterms:modified xsi:type="dcterms:W3CDTF">2026-10-10T03:10:34.1180000Z</dcterms:modified>
</coreProperties>
</file>